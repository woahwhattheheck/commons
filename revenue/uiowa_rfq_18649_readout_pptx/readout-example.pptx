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6290e192874e30" /><Relationship Type="http://schemas.openxmlformats.org/officeDocument/2006/relationships/extended-properties" Target="/docProps/app.xml" Id="R85443bdccc694348" /><Relationship Type="http://schemas.openxmlformats.org/officeDocument/2006/relationships/officeDocument" Target="/ppt/presentation.xml" Id="R90ff9fbd6243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c5510b8e54ecc"/>
  </p:sldMasterIdLst>
  <p:notesMasterIdLst>
    <p:notesMasterId xmlns:r="http://schemas.openxmlformats.org/officeDocument/2006/relationships" r:id="R70bda5df8c5045a2"/>
  </p:notesMasterIdLst>
  <p:sldIdLst>
    <p:sldId xmlns:r="http://schemas.openxmlformats.org/officeDocument/2006/relationships" id="256" r:id="Rac023a8fd6074a83"/>
    <p:sldId xmlns:r="http://schemas.openxmlformats.org/officeDocument/2006/relationships" id="257" r:id="R6722632b1b874812"/>
    <p:sldId xmlns:r="http://schemas.openxmlformats.org/officeDocument/2006/relationships" id="258" r:id="R26c072a7cdd04383"/>
    <p:sldId xmlns:r="http://schemas.openxmlformats.org/officeDocument/2006/relationships" id="259" r:id="R71c05b32649d4cc1"/>
    <p:sldId xmlns:r="http://schemas.openxmlformats.org/officeDocument/2006/relationships" id="260" r:id="R68c05edd2e27470d"/>
    <p:sldId xmlns:r="http://schemas.openxmlformats.org/officeDocument/2006/relationships" id="261" r:id="R44da485965dd4636"/>
    <p:sldId xmlns:r="http://schemas.openxmlformats.org/officeDocument/2006/relationships" id="262" r:id="R2d83eda81e254779"/>
    <p:sldId xmlns:r="http://schemas.openxmlformats.org/officeDocument/2006/relationships" id="263" r:id="R81b0a065e97e4e5e"/>
    <p:sldId xmlns:r="http://schemas.openxmlformats.org/officeDocument/2006/relationships" id="264" r:id="Rc16c38bb01344585"/>
    <p:sldId xmlns:r="http://schemas.openxmlformats.org/officeDocument/2006/relationships" id="265" r:id="R4bee5bb766784f46"/>
    <p:sldId xmlns:r="http://schemas.openxmlformats.org/officeDocument/2006/relationships" id="266" r:id="R7842a2652ba04856"/>
    <p:sldId xmlns:r="http://schemas.openxmlformats.org/officeDocument/2006/relationships" id="267" r:id="Rb5ffb5bd35cf43eb"/>
    <p:sldId xmlns:r="http://schemas.openxmlformats.org/officeDocument/2006/relationships" id="268" r:id="Rdb5a5b718b0046d4"/>
    <p:sldId xmlns:r="http://schemas.openxmlformats.org/officeDocument/2006/relationships" id="269" r:id="R689d4f29ca9e40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03ef3a41dc4df3" /><Relationship Type="http://schemas.openxmlformats.org/officeDocument/2006/relationships/slideMaster" Target="/ppt/slideMasters/slideMaster1.xml" Id="R8cac5510b8e54ecc" /><Relationship Type="http://schemas.openxmlformats.org/officeDocument/2006/relationships/notesMaster" Target="/ppt/notesMasters/notesMaster1.xml" Id="R70bda5df8c5045a2" /><Relationship Type="http://schemas.openxmlformats.org/officeDocument/2006/relationships/presProps" Target="/ppt/presProps.xml" Id="Rd4bf8f9ce9424c28" /><Relationship Type="http://schemas.openxmlformats.org/officeDocument/2006/relationships/tableStyles" Target="/ppt/tableStyles.xml" Id="R5a7976984f504eab" /><Relationship Type="http://schemas.openxmlformats.org/officeDocument/2006/relationships/slide" Target="/ppt/slides/slide1.xml" Id="Rac023a8fd6074a83" /><Relationship Type="http://schemas.openxmlformats.org/officeDocument/2006/relationships/slide" Target="/ppt/slides/slide2.xml" Id="R6722632b1b874812" /><Relationship Type="http://schemas.openxmlformats.org/officeDocument/2006/relationships/slide" Target="/ppt/slides/slide3.xml" Id="R26c072a7cdd04383" /><Relationship Type="http://schemas.openxmlformats.org/officeDocument/2006/relationships/slide" Target="/ppt/slides/slide4.xml" Id="R71c05b32649d4cc1" /><Relationship Type="http://schemas.openxmlformats.org/officeDocument/2006/relationships/slide" Target="/ppt/slides/slide5.xml" Id="R68c05edd2e27470d" /><Relationship Type="http://schemas.openxmlformats.org/officeDocument/2006/relationships/slide" Target="/ppt/slides/slide6.xml" Id="R44da485965dd4636" /><Relationship Type="http://schemas.openxmlformats.org/officeDocument/2006/relationships/slide" Target="/ppt/slides/slide7.xml" Id="R2d83eda81e254779" /><Relationship Type="http://schemas.openxmlformats.org/officeDocument/2006/relationships/slide" Target="/ppt/slides/slide8.xml" Id="R81b0a065e97e4e5e" /><Relationship Type="http://schemas.openxmlformats.org/officeDocument/2006/relationships/slide" Target="/ppt/slides/slide9.xml" Id="Rc16c38bb01344585" /><Relationship Type="http://schemas.openxmlformats.org/officeDocument/2006/relationships/slide" Target="/ppt/slides/slide10.xml" Id="R4bee5bb766784f46" /><Relationship Type="http://schemas.openxmlformats.org/officeDocument/2006/relationships/slide" Target="/ppt/slides/slide11.xml" Id="R7842a2652ba04856" /><Relationship Type="http://schemas.openxmlformats.org/officeDocument/2006/relationships/slide" Target="/ppt/slides/slide12.xml" Id="Rb5ffb5bd35cf43eb" /><Relationship Type="http://schemas.openxmlformats.org/officeDocument/2006/relationships/slide" Target="/ppt/slides/slide13.xml" Id="Rdb5a5b718b0046d4" /><Relationship Type="http://schemas.openxmlformats.org/officeDocument/2006/relationships/slide" Target="/ppt/slides/slide14.xml" Id="R689d4f29ca9e40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02549a20fc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58c4545e14c03" /><Relationship Type="http://schemas.openxmlformats.org/officeDocument/2006/relationships/notesMaster" Target="/ppt/notesMasters/notesMaster1.xml" Id="R8842d57181c149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5506aec0144e82" /><Relationship Type="http://schemas.openxmlformats.org/officeDocument/2006/relationships/notesMaster" Target="/ppt/notesMasters/notesMaster1.xml" Id="R57be93d9ea1e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b954770964599" /><Relationship Type="http://schemas.openxmlformats.org/officeDocument/2006/relationships/notesMaster" Target="/ppt/notesMasters/notesMaster1.xml" Id="R22db788aa8e447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21c5bb3374a0a" /><Relationship Type="http://schemas.openxmlformats.org/officeDocument/2006/relationships/notesMaster" Target="/ppt/notesMasters/notesMaster1.xml" Id="Rc5a147fdbe1645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8a3aaa5dc4d79" /><Relationship Type="http://schemas.openxmlformats.org/officeDocument/2006/relationships/notesMaster" Target="/ppt/notesMasters/notesMaster1.xml" Id="Rcefa3b4a542d49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ab557c14b4c0e" /><Relationship Type="http://schemas.openxmlformats.org/officeDocument/2006/relationships/notesMaster" Target="/ppt/notesMasters/notesMaster1.xml" Id="R3cc0b9ffdfc9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acabd13cb49a7" /><Relationship Type="http://schemas.openxmlformats.org/officeDocument/2006/relationships/notesMaster" Target="/ppt/notesMasters/notesMaster1.xml" Id="R781da621293a48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4a02f943d4ad9" /><Relationship Type="http://schemas.openxmlformats.org/officeDocument/2006/relationships/notesMaster" Target="/ppt/notesMasters/notesMaster1.xml" Id="Rc23466ba21e740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fc5c263bd64e32" /><Relationship Type="http://schemas.openxmlformats.org/officeDocument/2006/relationships/notesMaster" Target="/ppt/notesMasters/notesMaster1.xml" Id="R58948fa860b84a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67960a7ccf4911" /><Relationship Type="http://schemas.openxmlformats.org/officeDocument/2006/relationships/notesMaster" Target="/ppt/notesMasters/notesMaster1.xml" Id="R14c1dee6432044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ad3b821e4d49df" /><Relationship Type="http://schemas.openxmlformats.org/officeDocument/2006/relationships/notesMaster" Target="/ppt/notesMasters/notesMaster1.xml" Id="Ra0aa328da44f4b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e4faacc62d4c9f" /><Relationship Type="http://schemas.openxmlformats.org/officeDocument/2006/relationships/notesMaster" Target="/ppt/notesMasters/notesMaster1.xml" Id="R2a41d2c52c314d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91b3368c804c6d" /><Relationship Type="http://schemas.openxmlformats.org/officeDocument/2006/relationships/notesMaster" Target="/ppt/notesMasters/notesMaster1.xml" Id="R99cbc7ce25f44c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c348411365401c" /><Relationship Type="http://schemas.openxmlformats.org/officeDocument/2006/relationships/notesMaster" Target="/ppt/notesMasters/notesMaster1.xml" Id="R9aac36648b53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S-01.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by naming the three decisions on the last slide so the room knows where this lands.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plainly that UNKNOWN means we did not have the record, not that the practice is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S-02.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anyone challenges a number, go straight to S-A1 and read the locator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is there a second access-review cycle we did not receive?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"evidence",</a:t>
            </a:r>
          </a:p>
          <a:p xmlns:a="http://schemas.openxmlformats.org/drawingml/2006/main">
            <a:r>
              <a:t>    "cites": "EV-004",</a:t>
            </a:r>
          </a:p>
          <a:p xmlns:a="http://schemas.openxmlformats.org/drawingml/2006/main">
            <a:r>
              <a:t>    "text": "IAM deployment records, twelve sampled."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"evidence",</a:t>
            </a:r>
          </a:p>
          <a:p xmlns:a="http://schemas.openxmlformats.org/drawingml/2006/main">
            <a:r>
              <a:t>    "cites": "EV-007",</a:t>
            </a:r>
          </a:p>
          <a:p xmlns:a="http://schemas.openxmlformats.org/drawingml/2006/main">
            <a:r>
              <a:t>    "text": "IAM access review, one cycle only."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S-03.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ESS practice as the internal model - it is cheaper to copy a local practice than to import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asked about IAM access review: one cycle was supplied, so it is a candidate, not a validated strength.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"strength",</a:t>
            </a:r>
          </a:p>
          <a:p xmlns:a="http://schemas.openxmlformats.org/drawingml/2006/main">
            <a:r>
              <a:t>    "cites": "F-001",</a:t>
            </a:r>
          </a:p>
          <a:p xmlns:a="http://schemas.openxmlformats.org/drawingml/2006/main">
            <a:r>
              <a:t>    "measure": "changes_with_recorded_test_result",</a:t>
            </a:r>
          </a:p>
          <a:p xmlns:a="http://schemas.openxmlformats.org/drawingml/2006/main">
            <a:r>
              <a:t>    "value": 12,</a:t>
            </a:r>
          </a:p>
          <a:p xmlns:a="http://schemas.openxmlformats.org/drawingml/2006/main">
            <a:r>
              <a:t>    "unit": "of 12 sampled changes",</a:t>
            </a:r>
          </a:p>
          <a:p xmlns:a="http://schemas.openxmlformats.org/drawingml/2006/main">
            <a:r>
              <a:t>    "text": "ESS recorded a test result on every sampled change."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S-04.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Lead with the approval gap: it is the one with a cheap, checkable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let 99 percent backup completion stand in for recovery - say the difference out 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were the five two-approval deployments different in kind, or just better recorded?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"F-002",</a:t>
            </a:r>
          </a:p>
          <a:p xmlns:a="http://schemas.openxmlformats.org/drawingml/2006/main">
            <a:r>
              <a:t>    "measure": "single_approval_rate_pct",</a:t>
            </a:r>
          </a:p>
          <a:p xmlns:a="http://schemas.openxmlformats.org/drawingml/2006/main">
            <a:r>
              <a:t>    "value": 58,</a:t>
            </a:r>
          </a:p>
          <a:p xmlns:a="http://schemas.openxmlformats.org/drawingml/2006/main">
            <a:r>
              <a:t>    "unit": "percent",</a:t>
            </a:r>
          </a:p>
          <a:p xmlns:a="http://schemas.openxmlformats.org/drawingml/2006/main">
            <a:r>
              <a:t>    "text": "58 percent of sampled IAM deployments record a single approval."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"F-003",</a:t>
            </a:r>
          </a:p>
          <a:p xmlns:a="http://schemas.openxmlformats.org/drawingml/2006/main">
            <a:r>
              <a:t>    "measure": "backup_completion_rate_pct",</a:t>
            </a:r>
          </a:p>
          <a:p xmlns:a="http://schemas.openxmlformats.org/drawingml/2006/main">
            <a:r>
              <a:t>    "value": 99,</a:t>
            </a:r>
          </a:p>
          <a:p xmlns:a="http://schemas.openxmlformats.org/drawingml/2006/main">
            <a:r>
              <a:t>    "unit": "percent",</a:t>
            </a:r>
          </a:p>
          <a:p xmlns:a="http://schemas.openxmlformats.org/drawingml/2006/main">
            <a:r>
              <a:t>    "text": "RIS backup jobs complete at 99 percent, which is not the same as a demonstrated restore."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"F-003",</a:t>
            </a:r>
          </a:p>
          <a:p xmlns:a="http://schemas.openxmlformats.org/drawingml/2006/main">
            <a:r>
              <a:t>    "measure": "demonstrated_recovery_time_hours",</a:t>
            </a:r>
          </a:p>
          <a:p xmlns:a="http://schemas.openxmlformats.org/drawingml/2006/main">
            <a:r>
              <a:t>    "value": "UNKNOWN",</a:t>
            </a:r>
          </a:p>
          <a:p xmlns:a="http://schemas.openxmlformats.org/drawingml/2006/main">
            <a:r>
              <a:t>    "unit": "hours",</a:t>
            </a:r>
          </a:p>
          <a:p xmlns:a="http://schemas.openxmlformats.org/drawingml/2006/main">
            <a:r>
              <a:t>    "text": "Demonstrated recovery time is UNKNOWN - no restoration exercise was recorded."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"F-004",</a:t>
            </a:r>
          </a:p>
          <a:p xmlns:a="http://schemas.openxmlformats.org/drawingml/2006/main">
            <a:r>
              <a:t>    "measure": "services_without_recorded_alert_owner",</a:t>
            </a:r>
          </a:p>
          <a:p xmlns:a="http://schemas.openxmlformats.org/drawingml/2006/main">
            <a:r>
              <a:t>    "value": 2,</a:t>
            </a:r>
          </a:p>
          <a:p xmlns:a="http://schemas.openxmlformats.org/drawingml/2006/main">
            <a:r>
              <a:t>    "unit": "of 9 services",</a:t>
            </a:r>
          </a:p>
          <a:p xmlns:a="http://schemas.openxmlformats.org/drawingml/2006/main">
            <a:r>
              <a:t>    "text": "Two ESS services have no recorded alert routing owner."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S-05.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what each phase produces as evidence; do not promise a maturity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R-004 deliberately waits on the first two phases reporting - that is the dependency, not padding.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"R-001",</a:t>
            </a:r>
          </a:p>
          <a:p xmlns:a="http://schemas.openxmlformats.org/drawingml/2006/main">
            <a:r>
              <a:t>    "phase": "0-90",</a:t>
            </a:r>
          </a:p>
          <a:p xmlns:a="http://schemas.openxmlformats.org/drawingml/2006/main">
            <a:r>
              <a:t>    "text": "Approval record enforced in the first phase."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"R-003",</a:t>
            </a:r>
          </a:p>
          <a:p xmlns:a="http://schemas.openxmlformats.org/drawingml/2006/main">
            <a:r>
              <a:t>    "phase": "0-90",</a:t>
            </a:r>
          </a:p>
          <a:p xmlns:a="http://schemas.openxmlformats.org/drawingml/2006/main">
            <a:r>
              <a:t>    "text": "Alert routing owners recorded in the first phase."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"R-002",</a:t>
            </a:r>
          </a:p>
          <a:p xmlns:a="http://schemas.openxmlformats.org/drawingml/2006/main">
            <a:r>
              <a:t>    "phase": "90-180",</a:t>
            </a:r>
          </a:p>
          <a:p xmlns:a="http://schemas.openxmlformats.org/drawingml/2006/main">
            <a:r>
              <a:t>    "text": "Restoration exercise in the second phase."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"R-004",</a:t>
            </a:r>
          </a:p>
          <a:p xmlns:a="http://schemas.openxmlformats.org/drawingml/2006/main">
            <a:r>
              <a:t>    "phase": "180+",</a:t>
            </a:r>
          </a:p>
          <a:p xmlns:a="http://schemas.openxmlformats.org/drawingml/2006/main">
            <a:r>
              <a:t>    "text": "Extension to the remaining groups last."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S-06.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two real numbers first, then the UNKNOWN, so the gap reads as scope and not as evasion.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who can supply dataset sizes and the restore target, and by when?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"RES-001",</a:t>
            </a:r>
          </a:p>
          <a:p xmlns:a="http://schemas.openxmlformats.org/drawingml/2006/main">
            <a:r>
              <a:t>    "measure": "one_time_effort",</a:t>
            </a:r>
          </a:p>
          <a:p xmlns:a="http://schemas.openxmlformats.org/drawingml/2006/main">
            <a:r>
              <a:t>    "value": 80,</a:t>
            </a:r>
          </a:p>
          <a:p xmlns:a="http://schemas.openxmlformats.org/drawingml/2006/main">
            <a:r>
              <a:t>    "unit": "staff-hours",</a:t>
            </a:r>
          </a:p>
          <a:p xmlns:a="http://schemas.openxmlformats.org/drawingml/2006/main">
            <a:r>
              <a:t>    "text": "R-001 one-time effort."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"RES-001",</a:t>
            </a:r>
          </a:p>
          <a:p xmlns:a="http://schemas.openxmlformats.org/drawingml/2006/main">
            <a:r>
              <a:t>    "measure": "recurring_effort",</a:t>
            </a:r>
          </a:p>
          <a:p xmlns:a="http://schemas.openxmlformats.org/drawingml/2006/main">
            <a:r>
              <a:t>    "value": 4,</a:t>
            </a:r>
          </a:p>
          <a:p xmlns:a="http://schemas.openxmlformats.org/drawingml/2006/main">
            <a:r>
              <a:t>    "unit": "staff-hours per month",</a:t>
            </a:r>
          </a:p>
          <a:p xmlns:a="http://schemas.openxmlformats.org/drawingml/2006/main">
            <a:r>
              <a:t>    "text": "R-001 recurring effort."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"RES-003",</a:t>
            </a:r>
          </a:p>
          <a:p xmlns:a="http://schemas.openxmlformats.org/drawingml/2006/main">
            <a:r>
              <a:t>    "measure": "one_time_effort",</a:t>
            </a:r>
          </a:p>
          <a:p xmlns:a="http://schemas.openxmlformats.org/drawingml/2006/main">
            <a:r>
              <a:t>    "value": 16,</a:t>
            </a:r>
          </a:p>
          <a:p xmlns:a="http://schemas.openxmlformats.org/drawingml/2006/main">
            <a:r>
              <a:t>    "unit": "staff-hours",</a:t>
            </a:r>
          </a:p>
          <a:p xmlns:a="http://schemas.openxmlformats.org/drawingml/2006/main">
            <a:r>
              <a:t>    "text": "R-003 one-time effort."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"RES-002",</a:t>
            </a:r>
          </a:p>
          <a:p xmlns:a="http://schemas.openxmlformats.org/drawingml/2006/main">
            <a:r>
              <a:t>    "measure": "one_time_effort",</a:t>
            </a:r>
          </a:p>
          <a:p xmlns:a="http://schemas.openxmlformats.org/drawingml/2006/main">
            <a:r>
              <a:t>    "value": "UNKNOWN",</a:t>
            </a:r>
          </a:p>
          <a:p xmlns:a="http://schemas.openxmlformats.org/drawingml/2006/main">
            <a:r>
              <a:t>    "unit": "staff-hours",</a:t>
            </a:r>
          </a:p>
          <a:p xmlns:a="http://schemas.openxmlformats.org/drawingml/2006/main">
            <a:r>
              <a:t>    "text": "R-002 one-time effort is UNKNOWN pending dataset sizes and restore target."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S-07.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the decisions in order and record the chosen option and its owner on the spot.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defer is a legitimate outcome - record what evidence would change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"decision",</a:t>
            </a:r>
          </a:p>
          <a:p xmlns:a="http://schemas.openxmlformats.org/drawingml/2006/main">
            <a:r>
              <a:t>    "cites": "D-001",</a:t>
            </a:r>
          </a:p>
          <a:p xmlns:a="http://schemas.openxmlformats.org/drawingml/2006/main">
            <a:r>
              <a:t>    "text": "Enforce, enforce with exceptions, or defer pending a wider sample."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"decision",</a:t>
            </a:r>
          </a:p>
          <a:p xmlns:a="http://schemas.openxmlformats.org/drawingml/2006/main">
            <a:r>
              <a:t>    "cites": "D-002",</a:t>
            </a:r>
          </a:p>
          <a:p xmlns:a="http://schemas.openxmlformats.org/drawingml/2006/main">
            <a:r>
              <a:t>    "text": "Fund per dataset, pilot one, or defer pending the inventory."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"decision",</a:t>
            </a:r>
          </a:p>
          <a:p xmlns:a="http://schemas.openxmlformats.org/drawingml/2006/main">
            <a:r>
              <a:t>    "cites": "D-003",</a:t>
            </a:r>
          </a:p>
          <a:p xmlns:a="http://schemas.openxmlformats.org/drawingml/2006/main">
            <a:r>
              <a:t>    "text": "Assign to service owners, to monitoring, or defer to the next review."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S-A1.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locator, not the conclusion, when a number is challenged.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"evidence",</a:t>
            </a:r>
          </a:p>
          <a:p xmlns:a="http://schemas.openxmlformats.org/drawingml/2006/main">
            <a:r>
              <a:t>    "cites": "EV-004",</a:t>
            </a:r>
          </a:p>
          <a:p xmlns:a="http://schemas.openxmlformats.org/drawingml/2006/main">
            <a:r>
              <a:t>    "text": "Sampled IAM deployment records."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"evidence",</a:t>
            </a:r>
          </a:p>
          <a:p xmlns:a="http://schemas.openxmlformats.org/drawingml/2006/main">
            <a:r>
              <a:t>    "cites": "EV-007",</a:t>
            </a:r>
          </a:p>
          <a:p xmlns:a="http://schemas.openxmlformats.org/drawingml/2006/main">
            <a:r>
              <a:t>    "text": "Single supplied access-review cycle."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S-A2.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challenged on representativeness, agree it is open and name the wider window as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"F-002",</a:t>
            </a:r>
          </a:p>
          <a:p xmlns:a="http://schemas.openxmlformats.org/drawingml/2006/main">
            <a:r>
              <a:t>    "measure": "deployments_with_single_approval",</a:t>
            </a:r>
          </a:p>
          <a:p xmlns:a="http://schemas.openxmlformats.org/drawingml/2006/main">
            <a:r>
              <a:t>    "value": 7,</a:t>
            </a:r>
          </a:p>
          <a:p xmlns:a="http://schemas.openxmlformats.org/drawingml/2006/main">
            <a:r>
              <a:t>    "unit": "of 12 sampled deployments",</a:t>
            </a:r>
          </a:p>
          <a:p xmlns:a="http://schemas.openxmlformats.org/drawingml/2006/main">
            <a:r>
              <a:t>    "text": "Seven of twelve sampled deployments record one approval."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"F-002",</a:t>
            </a:r>
          </a:p>
          <a:p xmlns:a="http://schemas.openxmlformats.org/drawingml/2006/main">
            <a:r>
              <a:t>    "measure": "single_approval_rate_pct",</a:t>
            </a:r>
          </a:p>
          <a:p xmlns:a="http://schemas.openxmlformats.org/drawingml/2006/main">
            <a:r>
              <a:t>    "value": 58,</a:t>
            </a:r>
          </a:p>
          <a:p xmlns:a="http://schemas.openxmlformats.org/drawingml/2006/main">
            <a:r>
              <a:t>    "unit": "percent",</a:t>
            </a:r>
          </a:p>
          <a:p xmlns:a="http://schemas.openxmlformats.org/drawingml/2006/main">
            <a:r>
              <a:t>    "text": "58 percent, rounded from seven of twelve."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S-A3.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Make the distinction explicit: a completed backup is an input to recovery, not evidence of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"F-003",</a:t>
            </a:r>
          </a:p>
          <a:p xmlns:a="http://schemas.openxmlformats.org/drawingml/2006/main">
            <a:r>
              <a:t>    "measure": "backup_completion_rate_pct",</a:t>
            </a:r>
          </a:p>
          <a:p xmlns:a="http://schemas.openxmlformats.org/drawingml/2006/main">
            <a:r>
              <a:t>    "value": 99,</a:t>
            </a:r>
          </a:p>
          <a:p xmlns:a="http://schemas.openxmlformats.org/drawingml/2006/main">
            <a:r>
              <a:t>    "unit": "percent",</a:t>
            </a:r>
          </a:p>
          <a:p xmlns:a="http://schemas.openxmlformats.org/drawingml/2006/main">
            <a:r>
              <a:t>    "text": "Backup jobs complete at 99 percent in the fictional log."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"F-003",</a:t>
            </a:r>
          </a:p>
          <a:p xmlns:a="http://schemas.openxmlformats.org/drawingml/2006/main">
            <a:r>
              <a:t>    "measure": "demonstrated_recovery_time_hours",</a:t>
            </a:r>
          </a:p>
          <a:p xmlns:a="http://schemas.openxmlformats.org/drawingml/2006/main">
            <a:r>
              <a:t>    "value": "UNKNOWN",</a:t>
            </a:r>
          </a:p>
          <a:p xmlns:a="http://schemas.openxmlformats.org/drawingml/2006/main">
            <a:r>
              <a:t>    "unit": "hours",</a:t>
            </a:r>
          </a:p>
          <a:p xmlns:a="http://schemas.openxmlformats.org/drawingml/2006/main">
            <a:r>
              <a:t>    "text": "Recovery time is not assessed."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S-A4.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leadership wants R-004 pulled forward, name what evidence would be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"R-004",</a:t>
            </a:r>
          </a:p>
          <a:p xmlns:a="http://schemas.openxmlformats.org/drawingml/2006/main">
            <a:r>
              <a:t>    "phase": "180+",</a:t>
            </a:r>
          </a:p>
          <a:p xmlns:a="http://schemas.openxmlformats.org/drawingml/2006/main">
            <a:r>
              <a:t>    "text": "Extension waits on the first two phases."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"phase",</a:t>
            </a:r>
          </a:p>
          <a:p xmlns:a="http://schemas.openxmlformats.org/drawingml/2006/main">
            <a:r>
              <a:t>    "cites": "R-001",</a:t>
            </a:r>
          </a:p>
          <a:p xmlns:a="http://schemas.openxmlformats.org/drawingml/2006/main">
            <a:r>
              <a:t>    "phase": "0-90",</a:t>
            </a:r>
          </a:p>
          <a:p xmlns:a="http://schemas.openxmlformats.org/drawingml/2006/main">
            <a:r>
              <a:t>    "text": "Approval enforcement in the first phase."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S-A5.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Offer to convert any UNKNOWN into an estimate as soon as the named input arrives.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"RES-001",</a:t>
            </a:r>
          </a:p>
          <a:p xmlns:a="http://schemas.openxmlformats.org/drawingml/2006/main">
            <a:r>
              <a:t>    "measure": "one_time_effort",</a:t>
            </a:r>
          </a:p>
          <a:p xmlns:a="http://schemas.openxmlformats.org/drawingml/2006/main">
            <a:r>
              <a:t>    "value": 80,</a:t>
            </a:r>
          </a:p>
          <a:p xmlns:a="http://schemas.openxmlformats.org/drawingml/2006/main">
            <a:r>
              <a:t>    "unit": "staff-hours",</a:t>
            </a:r>
          </a:p>
          <a:p xmlns:a="http://schemas.openxmlformats.org/drawingml/2006/main">
            <a:r>
              <a:t>    "text": "Pipeline change plus backfill."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"RES-002",</a:t>
            </a:r>
          </a:p>
          <a:p xmlns:a="http://schemas.openxmlformats.org/drawingml/2006/main">
            <a:r>
              <a:t>    "measure": "recurring_effort",</a:t>
            </a:r>
          </a:p>
          <a:p xmlns:a="http://schemas.openxmlformats.org/drawingml/2006/main">
            <a:r>
              <a:t>    "value": "UNKNOWN",</a:t>
            </a:r>
          </a:p>
          <a:p xmlns:a="http://schemas.openxmlformats.org/drawingml/2006/main">
            <a:r>
              <a:t>    "unit": "staff-hours per month",</a:t>
            </a:r>
          </a:p>
          <a:p xmlns:a="http://schemas.openxmlformats.org/drawingml/2006/main">
            <a:r>
              <a:t>    "text": "Exercise cadence not agreed."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"resource",</a:t>
            </a:r>
          </a:p>
          <a:p xmlns:a="http://schemas.openxmlformats.org/drawingml/2006/main">
            <a:r>
              <a:t>    "cites": "RES-003",</a:t>
            </a:r>
          </a:p>
          <a:p xmlns:a="http://schemas.openxmlformats.org/drawingml/2006/main">
            <a:r>
              <a:t>    "measure": "one_time_effort",</a:t>
            </a:r>
          </a:p>
          <a:p xmlns:a="http://schemas.openxmlformats.org/drawingml/2006/main">
            <a:r>
              <a:t>    "value": 16,</a:t>
            </a:r>
          </a:p>
          <a:p xmlns:a="http://schemas.openxmlformats.org/drawingml/2006/main">
            <a:r>
              <a:t>    "unit": "staff-hours",</a:t>
            </a:r>
          </a:p>
          <a:p xmlns:a="http://schemas.openxmlformats.org/drawingml/2006/main">
            <a:r>
              <a:t>    "text": "Complete and verify the routing table."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S-A6.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to answer 'can we actually do this here' - the answer is that one group already does.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"strength",</a:t>
            </a:r>
          </a:p>
          <a:p xmlns:a="http://schemas.openxmlformats.org/drawingml/2006/main">
            <a:r>
              <a:t>    "cites": "F-001",</a:t>
            </a:r>
          </a:p>
          <a:p xmlns:a="http://schemas.openxmlformats.org/drawingml/2006/main">
            <a:r>
              <a:t>    "measure": "changes_with_recorded_test_result",</a:t>
            </a:r>
          </a:p>
          <a:p xmlns:a="http://schemas.openxmlformats.org/drawingml/2006/main">
            <a:r>
              <a:t>    "value": 12,</a:t>
            </a:r>
          </a:p>
          <a:p xmlns:a="http://schemas.openxmlformats.org/drawingml/2006/main">
            <a:r>
              <a:t>    "unit": "of 12 sampled changes",</a:t>
            </a:r>
          </a:p>
          <a:p xmlns:a="http://schemas.openxmlformats.org/drawingml/2006/main">
            <a:r>
              <a:t>    "text": "Twelve of twelve sampled ESS changes recorded a test result."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FICTION. Built only to exercise the deck-agreement engine against the example report. Not a University of Iowa readout and not a real assessment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S-A7. Source report: AIS-ASSESS-EXAMPLE-2026.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someone says 'we all know who responds', ask where that is written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claim records: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"type": "gap",</a:t>
            </a:r>
          </a:p>
          <a:p xmlns:a="http://schemas.openxmlformats.org/drawingml/2006/main">
            <a:r>
              <a:t>    "cites": "F-004",</a:t>
            </a:r>
          </a:p>
          <a:p xmlns:a="http://schemas.openxmlformats.org/drawingml/2006/main">
            <a:r>
              <a:t>    "measure": "services_without_recorded_alert_owner",</a:t>
            </a:r>
          </a:p>
          <a:p xmlns:a="http://schemas.openxmlformats.org/drawingml/2006/main">
            <a:r>
              <a:t>    "value": 2,</a:t>
            </a:r>
          </a:p>
          <a:p xmlns:a="http://schemas.openxmlformats.org/drawingml/2006/main">
            <a:r>
              <a:t>    "unit": "of 9 services",</a:t>
            </a:r>
          </a:p>
          <a:p xmlns:a="http://schemas.openxmlformats.org/drawingml/2006/main">
            <a:r>
              <a:t>    "text": "Two of nine ESS services have no recorded alert routing owner."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5876135e9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ee4c6d5014817" /><Relationship Type="http://schemas.openxmlformats.org/officeDocument/2006/relationships/slideLayout" Target="/ppt/slideLayouts/slideLayout1.xml" Id="R669c4a1558d148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c4a1558d148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72425e608f84a34" /><ns0:Relationship Type="http://schemas.openxmlformats.org/officeDocument/2006/relationships/notesSlide" Target="/ppt/notesSlides/notesSlide1.xml" Id="R2d3215840f614d19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df25de67b104cd9" /><ns0:Relationship Type="http://schemas.openxmlformats.org/officeDocument/2006/relationships/notesSlide" Target="/ppt/notesSlides/notesSlide2.xml" Id="R54429a32846c41ac" /><ns0:Relationship Id="rIdReadout1" Type="http://schemas.openxmlformats.org/officeDocument/2006/relationships/slide" Target="slide8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a1cddce38164163" /><ns0:Relationship Type="http://schemas.openxmlformats.org/officeDocument/2006/relationships/notesSlide" Target="/ppt/notesSlides/notesSlide3.xml" Id="Rf28d5d05530549fb" /><ns0:Relationship Id="rIdReadout2" Type="http://schemas.openxmlformats.org/officeDocument/2006/relationships/slide" Target="slide13.xm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0174af58aea4fcc" /><ns0:Relationship Type="http://schemas.openxmlformats.org/officeDocument/2006/relationships/notesSlide" Target="/ppt/notesSlides/notesSlide4.xml" Id="Rb1f04fe86c6c403f" /><ns0:Relationship Id="rIdReadout3" Type="http://schemas.openxmlformats.org/officeDocument/2006/relationships/slide" Target="slide9.xml" /><ns0:Relationship Id="rIdReadout4" Type="http://schemas.openxmlformats.org/officeDocument/2006/relationships/slide" Target="slide10.xml" /><ns0:Relationship Id="rIdReadout5" Type="http://schemas.openxmlformats.org/officeDocument/2006/relationships/slide" Target="slide14.xm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7ea387f500c4c83" /><ns0:Relationship Type="http://schemas.openxmlformats.org/officeDocument/2006/relationships/notesSlide" Target="/ppt/notesSlides/notesSlide5.xml" Id="R509e37ca437c4446" /><ns0:Relationship Id="rIdReadout6" Type="http://schemas.openxmlformats.org/officeDocument/2006/relationships/slide" Target="slide11.xm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3e2d3ae547748df" /><ns0:Relationship Type="http://schemas.openxmlformats.org/officeDocument/2006/relationships/notesSlide" Target="/ppt/notesSlides/notesSlide6.xml" Id="R7fe1712bf4ad4a9d" /><ns0:Relationship Id="rIdReadout7" Type="http://schemas.openxmlformats.org/officeDocument/2006/relationships/slide" Target="slide12.xm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45737592f0140c0" /><ns0:Relationship Type="http://schemas.openxmlformats.org/officeDocument/2006/relationships/notesSlide" Target="/ppt/notesSlides/notesSlide7.xml" Id="R398c11c50eae4088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5266f04747c4990" /><ns0:Relationship Type="http://schemas.openxmlformats.org/officeDocument/2006/relationships/notesSlide" Target="/ppt/notesSlides/notesSlide8.xml" Id="Rcf0dc37995054771" /><ns0:Relationship Id="rIdReadout8" Type="http://schemas.openxmlformats.org/officeDocument/2006/relationships/slide" Target="slide2.xml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f21303fcebf4177" /><ns0:Relationship Type="http://schemas.openxmlformats.org/officeDocument/2006/relationships/notesSlide" Target="/ppt/notesSlides/notesSlide9.xml" Id="R1a2d2ec7b2024706" /><ns0:Relationship Id="rIdReadout9" Type="http://schemas.openxmlformats.org/officeDocument/2006/relationships/slide" Target="slide4.xm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50ca1339fbe44d9" /><ns0:Relationship Type="http://schemas.openxmlformats.org/officeDocument/2006/relationships/notesSlide" Target="/ppt/notesSlides/notesSlide10.xml" Id="R4e7c3a516c554ade" /><ns0:Relationship Id="rIdReadout10" Type="http://schemas.openxmlformats.org/officeDocument/2006/relationships/slide" Target="slide4.xml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318bc30f6c04682" /><ns0:Relationship Type="http://schemas.openxmlformats.org/officeDocument/2006/relationships/notesSlide" Target="/ppt/notesSlides/notesSlide11.xml" Id="R3073385678944770" /><ns0:Relationship Id="rIdReadout11" Type="http://schemas.openxmlformats.org/officeDocument/2006/relationships/slide" Target="slide5.xml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3ca5a750aff4a9b" /><ns0:Relationship Type="http://schemas.openxmlformats.org/officeDocument/2006/relationships/notesSlide" Target="/ppt/notesSlides/notesSlide12.xml" Id="Rb4683681780a4c31" /><ns0:Relationship Id="rIdReadout12" Type="http://schemas.openxmlformats.org/officeDocument/2006/relationships/slide" Target="slide6.xml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f7a56307f5e4e58" /><ns0:Relationship Type="http://schemas.openxmlformats.org/officeDocument/2006/relationships/notesSlide" Target="/ppt/notesSlides/notesSlide13.xml" Id="R2783c4c854544768" /><ns0:Relationship Id="rIdReadout13" Type="http://schemas.openxmlformats.org/officeDocument/2006/relationships/slide" Target="slide3.xml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0f90b83a424af1" /><ns0:Relationship Type="http://schemas.openxmlformats.org/officeDocument/2006/relationships/notesSlide" Target="/ppt/notesSlides/notesSlide14.xml" Id="Rb5d00f52a5c6451d" /><ns0:Relationship Id="rIdReadout14" Type="http://schemas.openxmlformats.org/officeDocument/2006/relationships/slide" Target="slide4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itle">
            <ns1:extLst>
              <ns1:ext uri="{FF2B5EF4-FFF2-40B4-BE49-F238E27FC236}">
                <ns2:creationId id="{E89F5F2E-D62A-4C6C-86DF-82AECB76D08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Why we are in this room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93374D9C-C247-466E-881B-658FFDA22FE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We assessed three service groups against four areas, using records you supplied.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C6AFDF85-C372-4EFB-AD67-04420629FD0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This session presents three decision prompts for discussion.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AE1F45AD-52AC-451A-849E-88FCAAE9BB5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Anything we could not evidence is shown as UNKNOWN rather than estimated.</ns1:t>
            </ns1:r>
          </ns1:p>
        </ns0:txBody>
      </ns0:sp>
      <ns0:sp>
        <ns0:nvSpPr>
          <ns0:cNvPr id="5" name="fiction-label">
            <ns1:extLst>
              <ns1:ext uri="{FF2B5EF4-FFF2-40B4-BE49-F238E27FC236}">
                <ns2:creationId id="{B92C2834-BDAB-4AC8-82DB-2714DE69FBB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S-01   1/14</ns1:t>
            </ns1:r>
          </ns1:p>
        </ns0:txBody>
      </ns0:sp>
    </ns0:spTree>
    <ns0:extLst>
      <ns0:ext uri="{BB962C8B-B14F-4D97-AF65-F5344CB8AC3E}">
        <ns3:creationId val="62590934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EA909ECA-4F76-42F3-837F-7E377C88723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What this rests on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B485C03E-F7BA-44F1-BC80-18B3663532F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Seven supplied sources, each cited by exact version and locator.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338D8934-55EB-4203-8A4E-E11FADC902C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Two sampled record exports, twelve records each, drawn from the assessed window.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662ED1FC-E2E7-4DC1-BF9C-E5053E3DFD4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Where one cycle of a record was supplied, we say so instead of generalising from it.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A858A483-42FE-459E-A076-B481ECC9B69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EV-004   IAM deployment records, twelve sampled.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7D86EF28-F3FF-40D8-9E54-521CF574020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EV-007   IAM access review, one cycle only.</ns1:t>
            </ns1:r>
          </ns1:p>
        </ns0:txBody>
      </ns0:sp>
      <ns0:sp>
        <ns0:nvSpPr>
          <ns0:cNvPr id="7" name="jump-S-A1">
            <ns1:extLst>
              <ns1:ext uri="{FF2B5EF4-FFF2-40B4-BE49-F238E27FC236}">
                <ns2:creationId id="{F0DF966B-46A7-462D-AC89-65702182F90E}"/>
              </ns1:ext>
            </ns1:extLst>
            <ns1:hlinkClick ns3:id="rIdReadout1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S-A1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F9ECEBF6-51B7-4C4E-A693-296220D693E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S-02   2/14</ns1:t>
            </ns1:r>
          </ns1:p>
        </ns0:txBody>
      </ns0:sp>
    </ns0:spTree>
    <ns0:extLst>
      <ns0:ext uri="{BB962C8B-B14F-4D97-AF65-F5344CB8AC3E}">
        <ns4:creationId val="99915940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8D47CDE4-D05B-49B3-B517-A4FCDF541CD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What is already working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3C8C9DC9-C910-4B79-A206-F76472E9E21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ESS change management: every sampled change carried a recorded test result.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542D9704-24C6-4C58-94AA-DB22D26CA65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That is the practice the two priority gaps should be measured against.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7834E40A-82A7-4942-A437-987FF93E7A3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One further candidate strength is not corroborated yet and is held back.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D08B9016-3878-4C1E-9475-04661D91F10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F-001   changes with recorded test result: 12 of 12 sampled changes</ns1:t>
            </ns1:r>
          </ns1:p>
        </ns0:txBody>
      </ns0:sp>
      <ns0:sp>
        <ns0:nvSpPr>
          <ns0:cNvPr id="6" name="jump-S-A6">
            <ns1:extLst>
              <ns1:ext uri="{FF2B5EF4-FFF2-40B4-BE49-F238E27FC236}">
                <ns2:creationId id="{368120F7-AF1F-4960-9077-2232DC93E73F}"/>
              </ns1:ext>
            </ns1:extLst>
            <ns1:hlinkClick ns3:id="rIdReadout2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S-A6</ns1:t>
            </ns1:r>
          </ns1:p>
        </ns0:txBody>
      </ns0:sp>
      <ns0:sp>
        <ns0:nvSpPr>
          <ns0:cNvPr id="7" name="fiction-label">
            <ns1:extLst>
              <ns1:ext uri="{FF2B5EF4-FFF2-40B4-BE49-F238E27FC236}">
                <ns2:creationId id="{75BFDD23-BA41-4A50-889A-494F6B2A2A3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S-03   3/14</ns1:t>
            </ns1:r>
          </ns1:p>
        </ns0:txBody>
      </ns0:sp>
    </ns0:spTree>
    <ns0:extLst>
      <ns0:ext uri="{BB962C8B-B14F-4D97-AF65-F5344CB8AC3E}">
        <ns4:creationId val="283149084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title">
            <ns1:extLst>
              <ns1:ext uri="{FF2B5EF4-FFF2-40B4-BE49-F238E27FC236}">
                <ns2:creationId id="{32858DDD-62BB-4798-B295-D7571E2964D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The two gaps worth your time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DA2B3456-3C17-43F4-8A2F-6EAA14D7385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IAM deployments: the procedure requires two approvals; most sampled records show one.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54311E35-1BBD-434B-80B9-3F7928BF1A8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RIS recovery: backups complete, but no restoration exercise was recorded in the window.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009E8245-7DE7-491D-B225-0C663DE0071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Neither is a finding about individuals; both are about the record the process leaves.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90457E7D-7396-4CA2-95F1-54EA9C77C7F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F-002   single approval rate pct: 58 percent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D13363D4-63CC-4A2E-B99B-379166B6232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F-003   backup completion rate pct: 99 percent</ns1:t>
            </ns1:r>
          </ns1:p>
        </ns0:txBody>
      </ns0:sp>
      <ns0:sp>
        <ns0:nvSpPr>
          <ns0:cNvPr id="7" name="claim-2">
            <ns1:extLst>
              <ns1:ext uri="{FF2B5EF4-FFF2-40B4-BE49-F238E27FC236}">
                <ns2:creationId id="{AF6611BC-EBF1-4C90-88A4-26EAABC3B23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8577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rPr>
              <ns1:t>F-003   demonstrated recovery time hours: UNKNOWN hours</ns1:t>
            </ns1:r>
          </ns1:p>
        </ns0:txBody>
      </ns0:sp>
      <ns0:sp>
        <ns0:nvSpPr>
          <ns0:cNvPr id="8" name="claim-3">
            <ns1:extLst>
              <ns1:ext uri="{FF2B5EF4-FFF2-40B4-BE49-F238E27FC236}">
                <ns2:creationId id="{728A3C58-0829-4DCE-830B-0418C333197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2959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F-004   services without recorded alert owner: 2 of 9 services</ns1:t>
            </ns1:r>
          </ns1:p>
        </ns0:txBody>
      </ns0:sp>
      <ns0:sp>
        <ns0:nvSpPr>
          <ns0:cNvPr id="9" name="jump-S-A2">
            <ns1:extLst>
              <ns1:ext uri="{FF2B5EF4-FFF2-40B4-BE49-F238E27FC236}">
                <ns2:creationId id="{C79DF267-8315-4D63-94B8-D8CF91EF77DF}"/>
              </ns1:ext>
            </ns1:extLst>
            <ns1:hlinkClick ns3:id="rIdReadout3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S-A2</ns1:t>
            </ns1:r>
          </ns1:p>
        </ns0:txBody>
      </ns0:sp>
      <ns0:sp>
        <ns0:nvSpPr>
          <ns0:cNvPr id="10" name="jump-S-A3">
            <ns1:extLst>
              <ns1:ext uri="{FF2B5EF4-FFF2-40B4-BE49-F238E27FC236}">
                <ns2:creationId id="{EB254DF0-CE74-4F61-906B-51E28354AF9B}"/>
              </ns1:ext>
            </ns1:extLst>
            <ns1:hlinkClick ns3:id="rIdReadout4" action="ppaction://hlinksldjump"/>
          </ns0:cNvPr>
          <ns0:cNvSpPr>
            <ns1:spLocks noGrp="1"/>
          </ns0:cNvSpPr>
          <ns0:nvPr/>
        </ns0:nvSpPr>
        <ns0:spPr>
          <ns1:xfrm>
            <ns1:off x="3228975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S-A3</ns1:t>
            </ns1:r>
          </ns1:p>
        </ns0:txBody>
      </ns0:sp>
      <ns0:sp>
        <ns0:nvSpPr>
          <ns0:cNvPr id="11" name="jump-S-A7">
            <ns1:extLst>
              <ns1:ext uri="{FF2B5EF4-FFF2-40B4-BE49-F238E27FC236}">
                <ns2:creationId id="{C1BBEDBD-BC11-4C3B-8412-5D2A14896761}"/>
              </ns1:ext>
            </ns1:extLst>
            <ns1:hlinkClick ns3:id="rIdReadout5" action="ppaction://hlinksldjump"/>
          </ns0:cNvPr>
          <ns0:cNvSpPr>
            <ns1:spLocks noGrp="1"/>
          </ns0:cNvSpPr>
          <ns0:nvPr/>
        </ns0:nvSpPr>
        <ns0:spPr>
          <ns1:xfrm>
            <ns1:off x="584835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S-A7</ns1:t>
            </ns1:r>
          </ns1:p>
        </ns0:txBody>
      </ns0:sp>
      <ns0:sp>
        <ns0:nvSpPr>
          <ns0:cNvPr id="12" name="fiction-label">
            <ns1:extLst>
              <ns1:ext uri="{FF2B5EF4-FFF2-40B4-BE49-F238E27FC236}">
                <ns2:creationId id="{CF4D9E5F-9D0A-457C-9118-58AB00959F9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S-04   4/14</ns1:t>
            </ns1:r>
          </ns1:p>
        </ns0:txBody>
      </ns0:sp>
    </ns0:spTree>
    <ns0:extLst>
      <ns0:ext uri="{BB962C8B-B14F-4D97-AF65-F5344CB8AC3E}">
        <ns4:creationId val="1707953820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title">
            <ns1:extLst>
              <ns1:ext uri="{FF2B5EF4-FFF2-40B4-BE49-F238E27FC236}">
                <ns2:creationId id="{A714C2F2-D44C-43C6-AAB2-306328EAC10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Sequence, not a transformation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0BE736AC-F66B-41A3-B301-77973F5FE49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0-90: enforce the approval record (R-001) and complete the alert routing table (R-003).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E018A3E5-CE52-4171-AB09-8AFEF94748D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90-180: one documented restoration exercise per critical dataset (R-002).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41D47297-D039-4DB1-8A96-B0D167148F2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180+: extend both practices to the remaining groups (R-004) once the first phases report.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AE6268BC-741A-4A7A-A066-B4B156DCDA4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R-001   0-90: Approval record enforced in the first phase.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C9765F62-AD22-4965-9417-C3DBA11EEF9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R-003   0-90: Alert routing owners recorded in the first phase.</ns1:t>
            </ns1:r>
          </ns1:p>
        </ns0:txBody>
      </ns0:sp>
      <ns0:sp>
        <ns0:nvSpPr>
          <ns0:cNvPr id="7" name="claim-2">
            <ns1:extLst>
              <ns1:ext uri="{FF2B5EF4-FFF2-40B4-BE49-F238E27FC236}">
                <ns2:creationId id="{4EAED02B-CFEB-44D9-9E60-4CAC42FBE71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8577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R-002   90-180: Restoration exercise in the second phase.</ns1:t>
            </ns1:r>
          </ns1:p>
        </ns0:txBody>
      </ns0:sp>
      <ns0:sp>
        <ns0:nvSpPr>
          <ns0:cNvPr id="8" name="claim-3">
            <ns1:extLst>
              <ns1:ext uri="{FF2B5EF4-FFF2-40B4-BE49-F238E27FC236}">
                <ns2:creationId id="{6478C360-9BC4-44A0-893C-5A6975683C7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2959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R-004   180+: Extension to the remaining groups last.</ns1:t>
            </ns1:r>
          </ns1:p>
        </ns0:txBody>
      </ns0:sp>
      <ns0:sp>
        <ns0:nvSpPr>
          <ns0:cNvPr id="9" name="jump-S-A4">
            <ns1:extLst>
              <ns1:ext uri="{FF2B5EF4-FFF2-40B4-BE49-F238E27FC236}">
                <ns2:creationId id="{98EF5D13-5EB7-442D-B4BF-263097E876EE}"/>
              </ns1:ext>
            </ns1:extLst>
            <ns1:hlinkClick ns3:id="rIdReadout6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S-A4</ns1:t>
            </ns1:r>
          </ns1:p>
        </ns0:txBody>
      </ns0:sp>
      <ns0:sp>
        <ns0:nvSpPr>
          <ns0:cNvPr id="10" name="fiction-label">
            <ns1:extLst>
              <ns1:ext uri="{FF2B5EF4-FFF2-40B4-BE49-F238E27FC236}">
                <ns2:creationId id="{482718A9-4856-4AE9-A859-7114110C394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S-05   5/14</ns1:t>
            </ns1:r>
          </ns1:p>
        </ns0:txBody>
      </ns0:sp>
    </ns0:spTree>
    <ns0:extLst>
      <ns0:ext uri="{BB962C8B-B14F-4D97-AF65-F5344CB8AC3E}">
        <ns4:creationId val="1169512288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title">
            <ns1:extLst>
              <ns1:ext uri="{FF2B5EF4-FFF2-40B4-BE49-F238E27FC236}">
                <ns2:creationId id="{3D54F28E-6E54-4ADD-8C32-C3D1DCE2797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What it costs, and what we cannot cost yet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D7DA92CC-3C85-4C51-B9B5-18A53696B06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R-001: 80 staff-hours one-time, 4 staff-hours per month recurring.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544A4EE9-163C-4DBF-9D1D-3BE5C91502D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R-003: 16 staff-hours one-time; review cadence not agreed, so recurring is UNKNOWN.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4357DBDC-6FC0-4121-9CF7-785D6D97880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R-002 cannot be costed until dataset sizes and the restore target are supplied.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1ACF7B7D-BD91-4F7B-8079-4BC007B5CF9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RES-001   one time effort: 80 staff-hours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2F593600-3EF7-47A4-A3BC-A2A09A87A9A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RES-001   recurring effort: 4 staff-hours per month</ns1:t>
            </ns1:r>
          </ns1:p>
        </ns0:txBody>
      </ns0:sp>
      <ns0:sp>
        <ns0:nvSpPr>
          <ns0:cNvPr id="7" name="claim-2">
            <ns1:extLst>
              <ns1:ext uri="{FF2B5EF4-FFF2-40B4-BE49-F238E27FC236}">
                <ns2:creationId id="{A1A927E6-EFA6-4C37-8A38-5F8EADE6BE3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8577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RES-003   one time effort: 16 staff-hours</ns1:t>
            </ns1:r>
          </ns1:p>
        </ns0:txBody>
      </ns0:sp>
      <ns0:sp>
        <ns0:nvSpPr>
          <ns0:cNvPr id="8" name="claim-3">
            <ns1:extLst>
              <ns1:ext uri="{FF2B5EF4-FFF2-40B4-BE49-F238E27FC236}">
                <ns2:creationId id="{BA0C62F3-8291-463B-B6DC-5410CC98835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2959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rPr>
              <ns1:t>RES-002   one time effort: UNKNOWN staff-hours</ns1:t>
            </ns1:r>
          </ns1:p>
        </ns0:txBody>
      </ns0:sp>
      <ns0:sp>
        <ns0:nvSpPr>
          <ns0:cNvPr id="9" name="jump-S-A5">
            <ns1:extLst>
              <ns1:ext uri="{FF2B5EF4-FFF2-40B4-BE49-F238E27FC236}">
                <ns2:creationId id="{967D0FA3-CE48-4317-982C-668DA3EF788B}"/>
              </ns1:ext>
            </ns1:extLst>
            <ns1:hlinkClick ns3:id="rIdReadout7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Supporting detail S-A5</ns1:t>
            </ns1:r>
          </ns1:p>
        </ns0:txBody>
      </ns0:sp>
      <ns0:sp>
        <ns0:nvSpPr>
          <ns0:cNvPr id="10" name="fiction-label">
            <ns1:extLst>
              <ns1:ext uri="{FF2B5EF4-FFF2-40B4-BE49-F238E27FC236}">
                <ns2:creationId id="{E580AD5F-2807-409B-9B70-EAF4040424F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S-06   6/14</ns1:t>
            </ns1:r>
          </ns1:p>
        </ns0:txBody>
      </ns0:sp>
    </ns0:spTree>
    <ns0:extLst>
      <ns0:ext uri="{BB962C8B-B14F-4D97-AF65-F5344CB8AC3E}">
        <ns4:creationId val="197097815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F1055DEA-77E1-46C1-B6E8-DC3EE5D224A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What we need from you today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EA64B50C-2375-4A2E-AD4E-9BA27AB51BD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D-001: enforce the two-approval rule in the IAM pipeline (0-90).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E9EDA378-64D1-42E6-B9CE-EBF2254B890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D-002: fund a restoration exercise for critical RIS datasets (90-180).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F06A6915-4D30-466B-BAB3-B77F307C102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D-003: assign alert routing owners for the two unrecorded ESS services (0-90).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AA24F852-E448-4899-A48A-00099269E7D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D-001   Enforce, enforce with exceptions, or defer pending a wider sample.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8E00E53C-248F-46EE-9813-615DFCA0FD1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D-002   Fund per dataset, pilot one, or defer pending the inventory.</ns1:t>
            </ns1:r>
          </ns1:p>
        </ns0:txBody>
      </ns0:sp>
      <ns0:sp>
        <ns0:nvSpPr>
          <ns0:cNvPr id="7" name="claim-2">
            <ns1:extLst>
              <ns1:ext uri="{FF2B5EF4-FFF2-40B4-BE49-F238E27FC236}">
                <ns2:creationId id="{03A3E52B-456E-47CE-8661-1177B03597C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8577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D-003   Assign to service owners, to monitoring, or defer to the next review.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7D8E1B5F-3133-4857-8E26-C9D58656916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S-07   7/14</ns1:t>
            </ns1:r>
          </ns1:p>
        </ns0:txBody>
      </ns0:sp>
    </ns0:spTree>
    <ns0:extLst>
      <ns0:ext uri="{BB962C8B-B14F-4D97-AF65-F5344CB8AC3E}">
        <ns3:creationId val="500193959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5F2AC23A-1760-4180-8315-872054EE7C2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selected evidence locators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A753424C-F111-4934-838A-CDFCC6D55E7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EV-004 iam-deploy-export-2026H1.csv rows 2-13, version 2026-07-01.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8D111E29-A076-4236-A74D-3A1143F542D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EV-007 iam-access-review-2026Q1.pdf p.1-2, version 2026-04-03, single cycle.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D1DB6183-6B8D-48B9-A2F0-220D9473FB3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These selected locators support the examples here; other findings retain their report references.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706D1668-4AC0-4ABA-BFE6-F09A593685D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EV-004   Sampled IAM deployment records.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F8B4894A-74AF-41D0-A1EA-71B2DED87C5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EV-007   Single supplied access-review cycle.</ns1:t>
            </ns1:r>
          </ns1:p>
        </ns0:txBody>
      </ns0:sp>
      <ns0:sp>
        <ns0:nvSpPr>
          <ns0:cNvPr id="7" name="jump-S-02">
            <ns1:extLst>
              <ns1:ext uri="{FF2B5EF4-FFF2-40B4-BE49-F238E27FC236}">
                <ns2:creationId id="{F17A6C2C-88CB-49B5-94C7-32162030EC01}"/>
              </ns1:ext>
            </ns1:extLst>
            <ns1:hlinkClick ns3:id="rIdReadout8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S-02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B24227B3-DB8A-4EC9-A41F-B90A6E40B19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S-A1   8/14</ns1:t>
            </ns1:r>
          </ns1:p>
        </ns0:txBody>
      </ns0:sp>
    </ns0:spTree>
    <ns0:extLst>
      <ns0:ext uri="{BB962C8B-B14F-4D97-AF65-F5344CB8AC3E}">
        <ns4:creationId val="1325691058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21C884C7-6A41-4CC5-9C1B-85397625C84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IAM approval sampling detail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36193EE1-A450-492E-9769-0817051A780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Twelve sampled deployments; seven record one approval, five record two.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92A24AA2-8AB5-4550-8DF9-1DE15AC97E2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The procedure text requiring two approvals is IAM-DEP-PROC v2 section 5.1.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EF2885AC-A74A-46D3-95EB-D5BF00C7AE5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The sample is a sample - whether it is representative is an open input.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5B01D952-B4C5-4A45-A2F7-F0B86F092EF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F-002   deployments with single approval: 7 of 12 sampled deployments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82883A19-C586-4C0D-9B50-C3F9E586710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F-002   single approval rate pct: 58 percent</ns1:t>
            </ns1:r>
          </ns1:p>
        </ns0:txBody>
      </ns0:sp>
      <ns0:sp>
        <ns0:nvSpPr>
          <ns0:cNvPr id="7" name="jump-S-04">
            <ns1:extLst>
              <ns1:ext uri="{FF2B5EF4-FFF2-40B4-BE49-F238E27FC236}">
                <ns2:creationId id="{F6DD1AA9-FD3C-4B3C-9F03-4369375B2BA7}"/>
              </ns1:ext>
            </ns1:extLst>
            <ns1:hlinkClick ns3:id="rIdReadout9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S-04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F3A3D552-7DF4-4743-AF8F-96A81CAFBC6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S-A2   9/14</ns1:t>
            </ns1:r>
          </ns1:p>
        </ns0:txBody>
      </ns0:sp>
    </ns0:spTree>
    <ns0:extLst>
      <ns0:ext uri="{BB962C8B-B14F-4D97-AF65-F5344CB8AC3E}">
        <ns4:creationId val="160038326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9DFFD35E-3EB6-4F46-AA38-2C9F88FEC5B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RIS backup versus restoration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195AD29B-D568-4B07-AFB4-DF75265EF8E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Backup completion is read from the job log; restoration is a separate record that does not exist here.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B48F3A3B-2D77-4B5A-8CDB-BCAE571A956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No restoration exercise appears in the assessed window, so recovery time stays UNKNOWN.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71D908FE-3B00-4391-A1DC-15F31139BB5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This is an absent record, not an observed failure to recover.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FB5D0DFD-D555-407F-9084-49EA81A260A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F-003   backup completion rate pct: 99 percent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ACFBF12C-7DDC-4283-82B0-3E071A008B8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rPr>
              <ns1:t>F-003   demonstrated recovery time hours: UNKNOWN hours</ns1:t>
            </ns1:r>
          </ns1:p>
        </ns0:txBody>
      </ns0:sp>
      <ns0:sp>
        <ns0:nvSpPr>
          <ns0:cNvPr id="7" name="jump-S-04">
            <ns1:extLst>
              <ns1:ext uri="{FF2B5EF4-FFF2-40B4-BE49-F238E27FC236}">
                <ns2:creationId id="{A068A49B-9266-4C85-B7DA-91B7D15EB2B0}"/>
              </ns1:ext>
            </ns1:extLst>
            <ns1:hlinkClick ns3:id="rIdReadout10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S-04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09AFB7F9-14A3-4957-A037-C7C9A8E79E4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S-A3   10/14</ns1:t>
            </ns1:r>
          </ns1:p>
        </ns0:txBody>
      </ns0:sp>
    </ns0:spTree>
    <ns0:extLst>
      <ns0:ext uri="{BB962C8B-B14F-4D97-AF65-F5344CB8AC3E}">
        <ns4:creationId val="1921165159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title">
            <ns1:extLst>
              <ns1:ext uri="{FF2B5EF4-FFF2-40B4-BE49-F238E27FC236}">
                <ns2:creationId id="{68E02E90-19B9-4704-95C8-303772AEE7D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phase dependencies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85F4888A-31E5-454C-A4C0-5FA98F319AE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R-004 depends on R-001 and R-002 having reported, which is why it sits at 180+.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9D9A51FB-2AAF-44A2-9901-3EA02C966D1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R-001 and R-003 touch different systems and different owners, so they run in parallel in 0-90.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4DFF295E-C946-4A55-84D4-750FCB3D70C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Each phase is described by the evidence it produces, not by a maturity level.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193A3510-9390-4494-8745-DC17638257D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R-004   180+: Extension waits on the first two phases.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3CA89091-491D-49B1-A081-3891616D561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R-001   0-90: Approval enforcement in the first phase.</ns1:t>
            </ns1:r>
          </ns1:p>
        </ns0:txBody>
      </ns0:sp>
      <ns0:sp>
        <ns0:nvSpPr>
          <ns0:cNvPr id="7" name="jump-S-05">
            <ns1:extLst>
              <ns1:ext uri="{FF2B5EF4-FFF2-40B4-BE49-F238E27FC236}">
                <ns2:creationId id="{1262E030-0D1D-4604-9E77-9BCCB861F7F7}"/>
              </ns1:ext>
            </ns1:extLst>
            <ns1:hlinkClick ns3:id="rIdReadout11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S-05</ns1:t>
            </ns1:r>
          </ns1:p>
        </ns0:txBody>
      </ns0:sp>
      <ns0:sp>
        <ns0:nvSpPr>
          <ns0:cNvPr id="8" name="fiction-label">
            <ns1:extLst>
              <ns1:ext uri="{FF2B5EF4-FFF2-40B4-BE49-F238E27FC236}">
                <ns2:creationId id="{8749E6C3-129B-4DAB-80BB-08EF01334C6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S-A4   11/14</ns1:t>
            </ns1:r>
          </ns1:p>
        </ns0:txBody>
      </ns0:sp>
    </ns0:spTree>
    <ns0:extLst>
      <ns0:ext uri="{BB962C8B-B14F-4D97-AF65-F5344CB8AC3E}">
        <ns4:creationId val="568522165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title">
            <ns1:extLst>
              <ns1:ext uri="{FF2B5EF4-FFF2-40B4-BE49-F238E27FC236}">
                <ns2:creationId id="{9BD1E496-A18E-4449-BB09-784EAB54C36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resource assumptions and open inputs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472A03E5-3198-4E86-90F8-D58060882F8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R-001 80 staff-hours covers the pipeline change and the backfill of approver records.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1A7DE7FB-7BB3-4551-A61B-CF625BC195C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R-002 cannot be estimated without dataset sizes and the restore target.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D5329FBF-7C74-44D9-B61A-1F006CA027A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Every UNKNOWN here is an input we asked for and did not receive.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EE0FA209-9D97-4B99-9A5F-6BE2D068FA4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RES-001   one time effort: 80 staff-hours</ns1:t>
            </ns1:r>
          </ns1:p>
        </ns0:txBody>
      </ns0:sp>
      <ns0:sp>
        <ns0:nvSpPr>
          <ns0:cNvPr id="6" name="claim-1">
            <ns1:extLst>
              <ns1:ext uri="{FF2B5EF4-FFF2-40B4-BE49-F238E27FC236}">
                <ns2:creationId id="{444E7D9F-341C-48F9-90F0-8FCB5EFFAF2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41960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8C490A"/>
                </ns1:solidFill>
                <ns1:latin typeface="Bitstream Charter"/>
                <ns1:ea typeface="Bitstream Charter"/>
                <ns1:cs typeface="Bitstream Charter"/>
              </ns1:rPr>
              <ns1:t>RES-002   recurring effort: UNKNOWN staff-hours per month</ns1:t>
            </ns1:r>
          </ns1:p>
        </ns0:txBody>
      </ns0:sp>
      <ns0:sp>
        <ns0:nvSpPr>
          <ns0:cNvPr id="7" name="claim-2">
            <ns1:extLst>
              <ns1:ext uri="{FF2B5EF4-FFF2-40B4-BE49-F238E27FC236}">
                <ns2:creationId id="{134EDE1A-220A-434E-B8CD-3FD1D040CEF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8577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RES-003   one time effort: 16 staff-hours</ns1:t>
            </ns1:r>
          </ns1:p>
        </ns0:txBody>
      </ns0:sp>
      <ns0:sp>
        <ns0:nvSpPr>
          <ns0:cNvPr id="8" name="jump-S-06">
            <ns1:extLst>
              <ns1:ext uri="{FF2B5EF4-FFF2-40B4-BE49-F238E27FC236}">
                <ns2:creationId id="{2CE047A1-78E4-40D7-9ADA-A59A4030899E}"/>
              </ns1:ext>
            </ns1:extLst>
            <ns1:hlinkClick ns3:id="rIdReadout12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S-06</ns1:t>
            </ns1:r>
          </ns1:p>
        </ns0:txBody>
      </ns0:sp>
      <ns0:sp>
        <ns0:nvSpPr>
          <ns0:cNvPr id="9" name="fiction-label">
            <ns1:extLst>
              <ns1:ext uri="{FF2B5EF4-FFF2-40B4-BE49-F238E27FC236}">
                <ns2:creationId id="{C335B38C-EA46-44D8-B2F4-125D92F6792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S-A5   12/14</ns1:t>
            </ns1:r>
          </ns1:p>
        </ns0:txBody>
      </ns0:sp>
    </ns0:spTree>
    <ns0:extLst>
      <ns0:ext uri="{BB962C8B-B14F-4D97-AF65-F5344CB8AC3E}">
        <ns4:creationId val="1722787690"/>
      </ns0:ext>
    </ns0:extLst>
  </ns0:cSld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B7B087D4-7A7C-4389-B1F6-B279AAD14EA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ESS change sampling detail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CC7C1B48-F7C1-453D-ACFF-AA20B77C389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Twelve sampled ESS changes; twelve carry a recorded test result.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EA3779CB-C8EA-466C-9867-0FC7EA31088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Procedure text is ESS-CM-PROC v4 section 3.2; records are ess-change-export-2026H1.csv.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A83D0D60-AA9E-4835-935D-F438BCB45DB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This is the practice R-001 asks IAM to match for approvals.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EC92110F-D35E-426A-81BB-2E25CECD062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F-001   changes with recorded test result: 12 of 12 sampled changes</ns1:t>
            </ns1:r>
          </ns1:p>
        </ns0:txBody>
      </ns0:sp>
      <ns0:sp>
        <ns0:nvSpPr>
          <ns0:cNvPr id="6" name="jump-S-03">
            <ns1:extLst>
              <ns1:ext uri="{FF2B5EF4-FFF2-40B4-BE49-F238E27FC236}">
                <ns2:creationId id="{9583EEBA-D8F0-4314-AA6E-4ECD31C6DB3C}"/>
              </ns1:ext>
            </ns1:extLst>
            <ns1:hlinkClick ns3:id="rIdReadout13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S-03</ns1:t>
            </ns1:r>
          </ns1:p>
        </ns0:txBody>
      </ns0:sp>
      <ns0:sp>
        <ns0:nvSpPr>
          <ns0:cNvPr id="7" name="fiction-label">
            <ns1:extLst>
              <ns1:ext uri="{FF2B5EF4-FFF2-40B4-BE49-F238E27FC236}">
                <ns2:creationId id="{D0E5ADC9-3213-484C-BF89-A3C630DA19B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S-A6   13/14</ns1:t>
            </ns1:r>
          </ns1:p>
        </ns0:txBody>
      </ns0:sp>
    </ns0:spTree>
    <ns0:extLst>
      <ns0:ext uri="{BB962C8B-B14F-4D97-AF65-F5344CB8AC3E}">
        <ns4:creationId val="1419432743"/>
      </ns0:ext>
    </ns0:extLst>
  </ns0:cSld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B06C0CDB-A339-4CEB-98E1-4B03C634616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00050"/>
            <ns1:ext cx="109728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3150" b="1">
                <ns1:solidFill>
                  <ns1:srgbClr val="163B49"/>
                </ns1:solidFill>
                <ns1:latin typeface="Bitstream Charter"/>
                <ns1:ea typeface="Bitstream Charter"/>
                <ns1:cs typeface="Bitstream Charter"/>
              </ns1:rPr>
              <ns1:t>Appendix - ESS alert routing coverage</ns1:t>
            </ns1:r>
          </ns1:p>
        </ns0:txBody>
      </ns0:sp>
      <ns0:sp>
        <ns0:nvSpPr>
          <ns0:cNvPr id="2" name="point-0">
            <ns1:extLst>
              <ns1:ext uri="{FF2B5EF4-FFF2-40B4-BE49-F238E27FC236}">
                <ns2:creationId id="{58F046E9-4C5B-4120-98EC-42140261B53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58115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Nine ESS services in the routing table; seven name a routing owner, two do not.</ns1:t>
            </ns1:r>
          </ns1:p>
        </ns0:txBody>
      </ns0:sp>
      <ns0:sp>
        <ns0:nvSpPr>
          <ns0:cNvPr id="3" name="point-1">
            <ns1:extLst>
              <ns1:ext uri="{FF2B5EF4-FFF2-40B4-BE49-F238E27FC236}">
                <ns2:creationId id="{6DB68FA8-1BCC-496E-9F37-8C7B5BF8FEB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295525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The two unnamed services are the subject of decision D-003.</ns1:t>
            </ns1:r>
          </ns1:p>
        </ns0:txBody>
      </ns0:sp>
      <ns0:sp>
        <ns0:nvSpPr>
          <ns0:cNvPr id="4" name="point-2">
            <ns1:extLst>
              <ns1:ext uri="{FF2B5EF4-FFF2-40B4-BE49-F238E27FC236}">
                <ns2:creationId id="{4801C5AC-FD97-4BD5-A9BD-0F52CDD14C0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009900"/>
            <ns1:ext cx="109728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2100" b="0">
                <ns1:solidFill>
                  <ns1:srgbClr val="19313D"/>
                </ns1:solidFill>
                <ns1:latin typeface="Bitstream Charter"/>
                <ns1:ea typeface="Bitstream Charter"/>
                <ns1:cs typeface="Bitstream Charter"/>
              </ns1:rPr>
              <ns1:t>An unrecorded owner is a gap in the record, not proof that nobody responds.</ns1:t>
            </ns1:r>
          </ns1:p>
        </ns0:txBody>
      </ns0:sp>
      <ns0:sp>
        <ns0:nvSpPr>
          <ns0:cNvPr id="5" name="claim-0">
            <ns1:extLst>
              <ns1:ext uri="{FF2B5EF4-FFF2-40B4-BE49-F238E27FC236}">
                <ns2:creationId id="{2908C931-A1A8-4D1C-BCAF-957DC6DF95D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981450"/>
            <ns1:ext cx="109728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725" b="0">
                <ns1:solidFill>
                  <ns1:srgbClr val="006653"/>
                </ns1:solidFill>
                <ns1:latin typeface="Bitstream Charter"/>
                <ns1:ea typeface="Bitstream Charter"/>
                <ns1:cs typeface="Bitstream Charter"/>
              </ns1:rPr>
              <ns1:t>F-004   services without recorded alert owner: 2 of 9 services</ns1:t>
            </ns1:r>
          </ns1:p>
        </ns0:txBody>
      </ns0:sp>
      <ns0:sp>
        <ns0:nvSpPr>
          <ns0:cNvPr id="6" name="jump-S-04">
            <ns1:extLst>
              <ns1:ext uri="{FF2B5EF4-FFF2-40B4-BE49-F238E27FC236}">
                <ns2:creationId id="{51F8BB11-B1CD-4C14-A0B4-1563C6C1F1EF}"/>
              </ns1:ext>
            </ns1:extLst>
            <ns1:hlinkClick ns3:id="rIdReadout14" action="ppaction://hlinksldjump"/>
          </ns0:cNvPr>
          <ns0:cNvSpPr>
            <ns1:spLocks noGrp="1"/>
          </ns0:cNvSpPr>
          <ns0:nvPr/>
        </ns0:nvSpPr>
        <ns0:spPr>
          <ns1:xfrm>
            <ns1:off x="609600" y="5981700"/>
            <ns1:ext cx="2476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650" b="0">
                <ns1:solidFill>
                  <ns1:srgbClr val="205D90"/>
                </ns1:solidFill>
                <ns1:latin typeface="Bitstream Charter"/>
                <ns1:ea typeface="Bitstream Charter"/>
                <ns1:cs typeface="Bitstream Charter"/>
              </ns1:rPr>
              <ns1:t>Return S-04</ns1:t>
            </ns1:r>
          </ns1:p>
        </ns0:txBody>
      </ns0:sp>
      <ns0:sp>
        <ns0:nvSpPr>
          <ns0:cNvPr id="7" name="fiction-label">
            <ns1:extLst>
              <ns1:ext uri="{FF2B5EF4-FFF2-40B4-BE49-F238E27FC236}">
                <ns2:creationId id="{F96EAB19-16EE-4CE2-AB19-94DF7B3BBC0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57950"/>
            <ns1:ext cx="109728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defRPr>
            </ns1:pPr>
            <ns1:r>
              <ns1:rPr sz="1275" b="0">
                <ns1:solidFill>
                  <ns1:srgbClr val="56646C"/>
                </ns1:solidFill>
                <ns1:latin typeface="Bitstream Charter"/>
                <ns1:ea typeface="Bitstream Charter"/>
                <ns1:cs typeface="Bitstream Charter"/>
              </ns1:rPr>
              <ns1:t>SYNTHETIC EXAMPLE. No University findings.   S-A7   14/14</ns1:t>
            </ns1:r>
          </ns1:p>
        </ns0:txBody>
      </ns0:sp>
    </ns0:spTree>
    <ns0:extLst>
      <ns0:ext uri="{BB962C8B-B14F-4D97-AF65-F5344CB8AC3E}">
        <ns4:creationId val="1911642502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2026-09-26T13:11:50.2050000Z</dcterms:created>
  <dcterms:modified xsi:type="dcterms:W3CDTF">2026-09-26T13:11:50.2050000Z</dcterms:modified>
</coreProperties>
</file>